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4C5FD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34B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Fashion</c:v>
                </c:pt>
                <c:pt idx="1">
                  <c:v>Furniture</c:v>
                </c:pt>
                <c:pt idx="2">
                  <c:v>Grocery</c:v>
                </c:pt>
                <c:pt idx="3">
                  <c:v>Education</c:v>
                </c:pt>
                <c:pt idx="4">
                  <c:v>Electronics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1.98</c:v>
                </c:pt>
                <c:pt idx="1">
                  <c:v>2.15</c:v>
                </c:pt>
                <c:pt idx="2">
                  <c:v>2.2200000000000002</c:v>
                </c:pt>
                <c:pt idx="3">
                  <c:v>2.5</c:v>
                </c:pt>
                <c:pt idx="4">
                  <c:v>5.08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38-4ECB-B1BE-71C9C51F92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34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9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34B5C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434B5C"/>
                    </a:solidFill>
                    <a:latin typeface="Arial"/>
                  </a:rPr>
                  <a:t>₹ Crore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34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ln w="38100" cap="flat">
              <a:solidFill>
                <a:srgbClr val="2EC4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1.01</c:v>
                </c:pt>
                <c:pt idx="1">
                  <c:v>1.1499999999999999</c:v>
                </c:pt>
                <c:pt idx="2">
                  <c:v>1.31</c:v>
                </c:pt>
                <c:pt idx="3">
                  <c:v>1.22</c:v>
                </c:pt>
                <c:pt idx="4">
                  <c:v>1.1000000000000001</c:v>
                </c:pt>
                <c:pt idx="5">
                  <c:v>1.29</c:v>
                </c:pt>
                <c:pt idx="6">
                  <c:v>1.17</c:v>
                </c:pt>
                <c:pt idx="7">
                  <c:v>0.94</c:v>
                </c:pt>
                <c:pt idx="8">
                  <c:v>0.92</c:v>
                </c:pt>
                <c:pt idx="9">
                  <c:v>1.25</c:v>
                </c:pt>
                <c:pt idx="10">
                  <c:v>1.26</c:v>
                </c:pt>
                <c:pt idx="11">
                  <c:v>1.23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DB2-4F15-A261-6E479864CE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34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.6"/>
        </c:scaling>
        <c:delete val="0"/>
        <c:axPos val="l"/>
        <c:majorGridlines>
          <c:spPr>
            <a:ln w="12700" cap="flat">
              <a:solidFill>
                <a:srgbClr val="E5E9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34B5C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434B5C"/>
                    </a:solidFill>
                    <a:latin typeface="Arial"/>
                  </a:rPr>
                  <a:t>₹ Crore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34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1016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434B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Patna</c:v>
                </c:pt>
                <c:pt idx="1">
                  <c:v>Kolkata</c:v>
                </c:pt>
                <c:pt idx="2">
                  <c:v>Bengaluru</c:v>
                </c:pt>
                <c:pt idx="3">
                  <c:v>Mumbai</c:v>
                </c:pt>
                <c:pt idx="4">
                  <c:v>Hyderabad</c:v>
                </c:pt>
                <c:pt idx="5">
                  <c:v>Delhi</c:v>
                </c:pt>
                <c:pt idx="6">
                  <c:v>Pune</c:v>
                </c:pt>
                <c:pt idx="7">
                  <c:v>Gaya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2.08</c:v>
                </c:pt>
                <c:pt idx="1">
                  <c:v>1.89</c:v>
                </c:pt>
                <c:pt idx="2">
                  <c:v>1.88</c:v>
                </c:pt>
                <c:pt idx="3">
                  <c:v>1.88</c:v>
                </c:pt>
                <c:pt idx="4">
                  <c:v>1.72</c:v>
                </c:pt>
                <c:pt idx="5">
                  <c:v>1.61</c:v>
                </c:pt>
                <c:pt idx="6">
                  <c:v>1.45</c:v>
                </c:pt>
                <c:pt idx="7">
                  <c:v>1.44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AF-4C29-90C7-DAFCD7D8AA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434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34B5C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434B5C"/>
                    </a:solidFill>
                    <a:latin typeface="Arial"/>
                  </a:rPr>
                  <a:t>₹ Crore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34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08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randomBar dir="vert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858000" cy="6858000"/>
          </a:xfrm>
          <a:prstGeom prst="ellipse">
            <a:avLst/>
          </a:prstGeom>
          <a:solidFill>
            <a:srgbClr val="1B2452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548640"/>
            <a:ext cx="2377440" cy="237744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1B245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64008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4C5FD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71600" y="64008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 STATISTICAL VALIDATION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Transactions to Truth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FY2025 Retail Sales Story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7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statistically validated narrative — ₹13.94 Cr in revenue, an interactive Power BI dashboard, and a hypothesis put to the test.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5074920"/>
            <a:ext cx="1901952" cy="384048"/>
          </a:xfrm>
          <a:prstGeom prst="roundRect">
            <a:avLst>
              <a:gd name="adj" fmla="val 50000"/>
            </a:avLst>
          </a:prstGeom>
          <a:solidFill>
            <a:srgbClr val="1B2452"/>
          </a:solidFill>
          <a:ln w="12700">
            <a:solidFill>
              <a:srgbClr val="4C5F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0749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Narrative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5074920"/>
            <a:ext cx="2176272" cy="384048"/>
          </a:xfrm>
          <a:prstGeom prst="roundRect">
            <a:avLst>
              <a:gd name="adj" fmla="val 50000"/>
            </a:avLst>
          </a:prstGeom>
          <a:solidFill>
            <a:srgbClr val="1B2452"/>
          </a:solidFill>
          <a:ln w="12700">
            <a:solidFill>
              <a:srgbClr val="4C5F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50749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5074920"/>
            <a:ext cx="1901952" cy="384048"/>
          </a:xfrm>
          <a:prstGeom prst="roundRect">
            <a:avLst>
              <a:gd name="adj" fmla="val 50000"/>
            </a:avLst>
          </a:prstGeom>
          <a:solidFill>
            <a:srgbClr val="1B2452"/>
          </a:solidFill>
          <a:ln w="12700">
            <a:solidFill>
              <a:srgbClr val="4C5F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50749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100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005840"/>
            <a:ext cx="2743200" cy="2743200"/>
          </a:xfrm>
          <a:prstGeom prst="ellipse">
            <a:avLst/>
          </a:prstGeom>
          <a:solidFill>
            <a:srgbClr val="EDF0FA"/>
          </a:solidFill>
          <a:ln/>
        </p:spPr>
      </p:sp>
      <p:sp>
        <p:nvSpPr>
          <p:cNvPr id="3" name="Shape 1"/>
          <p:cNvSpPr/>
          <p:nvPr/>
        </p:nvSpPr>
        <p:spPr>
          <a:xfrm>
            <a:off x="11686032" y="-137160"/>
            <a:ext cx="1005840" cy="1005840"/>
          </a:xfrm>
          <a:prstGeom prst="ellipse">
            <a:avLst/>
          </a:prstGeom>
          <a:solidFill>
            <a:srgbClr val="E3E7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Story Is Built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from raw transactions to a validated business recommendation.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127000" dist="38100" dir="5400000" algn="bl" rotWithShape="0">
              <a:srgbClr val="10163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945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291840" y="22402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4C5FD5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Craft the Data Story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FY2025 findings into a narrative with a clear objective, analysis, and a call to action.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5112" y="19202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127000" dist="38100" dir="5400000" algn="bl" rotWithShape="0">
              <a:srgbClr val="10163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99432" y="21945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7068312" y="22402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4C5FD5"/>
          </a:solidFill>
          <a:ln/>
        </p:spPr>
      </p:sp>
      <p:sp>
        <p:nvSpPr>
          <p:cNvPr id="15" name="Text 13"/>
          <p:cNvSpPr/>
          <p:nvPr/>
        </p:nvSpPr>
        <p:spPr>
          <a:xfrm>
            <a:off x="7068312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9432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Interactive Dashboard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599432" y="37947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lets stakeholders filter revenue by category, city, month, and customer segment.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01584" y="19202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127000" dist="38100" dir="5400000" algn="bl" rotWithShape="0">
              <a:srgbClr val="10163A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75904" y="21945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10844784" y="22402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4C5FD5"/>
          </a:solidFill>
          <a:ln/>
        </p:spPr>
      </p:sp>
      <p:sp>
        <p:nvSpPr>
          <p:cNvPr id="21" name="Text 19"/>
          <p:cNvSpPr/>
          <p:nvPr/>
        </p:nvSpPr>
        <p:spPr>
          <a:xfrm>
            <a:off x="10844784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75904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with Hypothesis Testing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375904" y="37947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a testable claim and confirm it statistically before it drives a marketing decision.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400800"/>
            <a:ext cx="384048" cy="182880"/>
          </a:xfrm>
          <a:prstGeom prst="roundRect">
            <a:avLst>
              <a:gd name="adj" fmla="val 15000"/>
            </a:avLst>
          </a:prstGeom>
          <a:solidFill>
            <a:srgbClr val="4C5FD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05840" y="6382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 Statistical Validation  •  Slide 02</a:t>
            </a:r>
            <a:endParaRPr lang="en-US" sz="950" dirty="0"/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005840"/>
            <a:ext cx="2743200" cy="2743200"/>
          </a:xfrm>
          <a:prstGeom prst="ellipse">
            <a:avLst/>
          </a:prstGeom>
          <a:solidFill>
            <a:srgbClr val="EDF0FA"/>
          </a:solidFill>
          <a:ln/>
        </p:spPr>
      </p:sp>
      <p:sp>
        <p:nvSpPr>
          <p:cNvPr id="3" name="Shape 1"/>
          <p:cNvSpPr/>
          <p:nvPr/>
        </p:nvSpPr>
        <p:spPr>
          <a:xfrm>
            <a:off x="11686032" y="-137160"/>
            <a:ext cx="1005840" cy="1005840"/>
          </a:xfrm>
          <a:prstGeom prst="ellipse">
            <a:avLst/>
          </a:prstGeom>
          <a:solidFill>
            <a:srgbClr val="E3E7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synthesize FY2025 sales data into a business narrative and validate key patterns with statistical testing.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101600" dist="38100" dir="5400000" algn="bl" rotWithShape="0">
              <a:srgbClr val="10163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1620" y="206654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0163A"/>
          </a:solidFill>
          <a:ln/>
        </p:spPr>
      </p:sp>
      <p:sp>
        <p:nvSpPr>
          <p:cNvPr id="8" name="Text 6"/>
          <p:cNvSpPr/>
          <p:nvPr/>
        </p:nvSpPr>
        <p:spPr>
          <a:xfrm>
            <a:off x="1531620" y="2066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724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₹13.94 Cr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0080" y="31821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19272" y="18288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101600" dist="38100" dir="5400000" algn="bl" rotWithShape="0">
              <a:srgbClr val="10163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02252" y="206654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0163A"/>
          </a:solidFill>
          <a:ln/>
        </p:spPr>
      </p:sp>
      <p:sp>
        <p:nvSpPr>
          <p:cNvPr id="13" name="Text 11"/>
          <p:cNvSpPr/>
          <p:nvPr/>
        </p:nvSpPr>
        <p:spPr>
          <a:xfrm>
            <a:off x="4302252" y="2066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10712" y="2724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</a:rPr>
              <a:t>992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410712" y="31821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9904" y="18288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101600" dist="38100" dir="5400000" algn="bl" rotWithShape="0">
              <a:srgbClr val="10163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72884" y="206654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0163A"/>
          </a:solidFill>
          <a:ln/>
        </p:spPr>
      </p:sp>
      <p:sp>
        <p:nvSpPr>
          <p:cNvPr id="18" name="Text 16"/>
          <p:cNvSpPr/>
          <p:nvPr/>
        </p:nvSpPr>
        <p:spPr>
          <a:xfrm>
            <a:off x="7072884" y="2066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⌀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81344" y="2724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₹1,39,399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181344" y="31821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60536" y="182880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101600" dist="38100" dir="5400000" algn="bl" rotWithShape="0">
              <a:srgbClr val="10163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843516" y="206654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0163A"/>
          </a:solidFill>
          <a:ln/>
        </p:spPr>
      </p:sp>
      <p:sp>
        <p:nvSpPr>
          <p:cNvPr id="23" name="Text 21"/>
          <p:cNvSpPr/>
          <p:nvPr/>
        </p:nvSpPr>
        <p:spPr>
          <a:xfrm>
            <a:off x="9843516" y="2066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951976" y="2724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</a:rPr>
              <a:t>52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951976" y="31821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201168" cy="201168"/>
          </a:xfrm>
          <a:prstGeom prst="roundRect">
            <a:avLst>
              <a:gd name="adj" fmla="val 28000"/>
            </a:avLst>
          </a:prstGeom>
          <a:solidFill>
            <a:srgbClr val="E3E7F8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434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" y="4507992"/>
            <a:ext cx="54864" cy="54864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34340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every category, generating over a third of total revenue.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855464"/>
            <a:ext cx="201168" cy="201168"/>
          </a:xfrm>
          <a:prstGeom prst="roundRect">
            <a:avLst>
              <a:gd name="adj" fmla="val 28000"/>
            </a:avLst>
          </a:prstGeom>
          <a:solidFill>
            <a:srgbClr val="E3E7F8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855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" y="4928616"/>
            <a:ext cx="54864" cy="54864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764024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 and Kolkata are the top-earning cities, narrowly ahead of Bengaluru and Mumbai.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276088"/>
            <a:ext cx="201168" cy="201168"/>
          </a:xfrm>
          <a:prstGeom prst="roundRect">
            <a:avLst>
              <a:gd name="adj" fmla="val 28000"/>
            </a:avLst>
          </a:prstGeom>
          <a:solidFill>
            <a:srgbClr val="E3E7F8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276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" y="5349240"/>
            <a:ext cx="54864" cy="54864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184648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 stays remarkably consistent across gender, weekday, and top categories.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5696712"/>
            <a:ext cx="201168" cy="201168"/>
          </a:xfrm>
          <a:prstGeom prst="roundRect">
            <a:avLst>
              <a:gd name="adj" fmla="val 28000"/>
            </a:avLst>
          </a:prstGeom>
          <a:solidFill>
            <a:srgbClr val="E3E7F8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5696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" y="5769864"/>
            <a:ext cx="54864" cy="54864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560527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5.2% of customers are repeat buyers — a clear retention opportunity.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48640" y="6400800"/>
            <a:ext cx="384048" cy="182880"/>
          </a:xfrm>
          <a:prstGeom prst="roundRect">
            <a:avLst>
              <a:gd name="adj" fmla="val 15000"/>
            </a:avLst>
          </a:prstGeom>
          <a:solidFill>
            <a:srgbClr val="4C5FD5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005840" y="6382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 Statistical Validation  •  Slide 03</a:t>
            </a:r>
            <a:endParaRPr lang="en-US" sz="950" dirty="0"/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Revenue Comes From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the single largest driver of revenue, more than double any other category.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67512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452360" y="1508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mix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52360" y="1965960"/>
            <a:ext cx="420624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7" name="Text 4"/>
          <p:cNvSpPr/>
          <p:nvPr/>
        </p:nvSpPr>
        <p:spPr>
          <a:xfrm>
            <a:off x="7589520" y="19659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509760" y="196596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36.4%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515600" y="19659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 orders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52360" y="2532888"/>
            <a:ext cx="4206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0" y="2532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509760" y="253288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515600" y="253288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orders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52360" y="3099816"/>
            <a:ext cx="420624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0" y="309981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509760" y="309981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16.0%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515600" y="3099816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 orders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52360" y="3666744"/>
            <a:ext cx="4206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7589520" y="366674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509760" y="3666744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0515600" y="3666744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 orders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452360" y="4233672"/>
            <a:ext cx="4206240" cy="56692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3" name="Text 20"/>
          <p:cNvSpPr/>
          <p:nvPr/>
        </p:nvSpPr>
        <p:spPr>
          <a:xfrm>
            <a:off x="7589520" y="423367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509760" y="4233672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0515600" y="423367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orders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452360" y="50292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products: Laptop (₹2.54 Cr) and Mobile (₹2.53 Cr) together outsell every other single product.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48640" y="6400800"/>
            <a:ext cx="384048" cy="182880"/>
          </a:xfrm>
          <a:prstGeom prst="roundRect">
            <a:avLst>
              <a:gd name="adj" fmla="val 15000"/>
            </a:avLst>
          </a:prstGeom>
          <a:solidFill>
            <a:srgbClr val="4C5FD5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005840" y="6382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 Statistical Validation  •  Slide 04</a:t>
            </a:r>
            <a:endParaRPr lang="en-US" sz="950" dirty="0"/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Held Steady Through the Year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for 2025 (₹ Crore) — a March peak, a seasonal Aug–Sep dip, and a strong Q4 recovery.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108813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150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71500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curve:  </a:t>
            </a:r>
            <a:r>
              <a:rPr lang="en-US" sz="12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softness lines up with fewer orders overall, not lower order value — worth checking against seasonal promotions.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6400800"/>
            <a:ext cx="384048" cy="182880"/>
          </a:xfrm>
          <a:prstGeom prst="roundRect">
            <a:avLst>
              <a:gd name="adj" fmla="val 15000"/>
            </a:avLst>
          </a:prstGeom>
          <a:solidFill>
            <a:srgbClr val="4C5FD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005840" y="6382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 Statistical Validation  •  Slide 05</a:t>
            </a:r>
            <a:endParaRPr lang="en-US" sz="950" dirty="0"/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Broadly Spread Across Cities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city dominates — the top and bottom performing cities are within 31% of each other.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1088136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6400800"/>
            <a:ext cx="384048" cy="182880"/>
          </a:xfrm>
          <a:prstGeom prst="roundRect">
            <a:avLst>
              <a:gd name="adj" fmla="val 15000"/>
            </a:avLst>
          </a:prstGeom>
          <a:solidFill>
            <a:srgbClr val="4C5FD5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005840" y="6382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 Statistical Validation  •  Slide 06</a:t>
            </a:r>
            <a:endParaRPr lang="en-US" sz="950" dirty="0"/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005840"/>
            <a:ext cx="2743200" cy="2743200"/>
          </a:xfrm>
          <a:prstGeom prst="ellipse">
            <a:avLst/>
          </a:prstGeom>
          <a:solidFill>
            <a:srgbClr val="EDF0FA"/>
          </a:solidFill>
          <a:ln/>
        </p:spPr>
      </p:sp>
      <p:sp>
        <p:nvSpPr>
          <p:cNvPr id="3" name="Shape 1"/>
          <p:cNvSpPr/>
          <p:nvPr/>
        </p:nvSpPr>
        <p:spPr>
          <a:xfrm>
            <a:off x="11686032" y="-137160"/>
            <a:ext cx="1005840" cy="1005840"/>
          </a:xfrm>
          <a:prstGeom prst="ellipse">
            <a:avLst/>
          </a:prstGeom>
          <a:solidFill>
            <a:srgbClr val="E3E7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Interactive Dashboard for Stakeholders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Power BI so the sales, category, and customer story above can be explored live — not just read.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" y="1481328"/>
            <a:ext cx="7004304" cy="4079477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blurRad="177800" dist="50800" dir="5400000" algn="bl" rotWithShape="0">
              <a:srgbClr val="10163A">
                <a:alpha val="18000"/>
              </a:srgbClr>
            </a:outerShdw>
          </a:effectLst>
        </p:spPr>
      </p:sp>
      <p:pic>
        <p:nvPicPr>
          <p:cNvPr id="7" name="Image 0" descr="/home/claude/deck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858000" cy="39331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652245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 — filterable by category, city, month, and customer age band.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0" y="1554480"/>
            <a:ext cx="3840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973568" y="17556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0163A"/>
          </a:solidFill>
          <a:ln/>
        </p:spPr>
      </p:sp>
      <p:sp>
        <p:nvSpPr>
          <p:cNvPr id="11" name="Text 8"/>
          <p:cNvSpPr/>
          <p:nvPr/>
        </p:nvSpPr>
        <p:spPr>
          <a:xfrm>
            <a:off x="797356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595360" y="170078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slicers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95360" y="201168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filters every visual by Education, Electronics, Fashion, Furniture, or Grocery.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772400" y="2889504"/>
            <a:ext cx="3840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73568" y="309067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0163A"/>
          </a:solidFill>
          <a:ln/>
        </p:spPr>
      </p:sp>
      <p:sp>
        <p:nvSpPr>
          <p:cNvPr id="16" name="Text 13"/>
          <p:cNvSpPr/>
          <p:nvPr/>
        </p:nvSpPr>
        <p:spPr>
          <a:xfrm>
            <a:off x="7973568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595360" y="30358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+ volume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595360" y="334670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order count plotted together by month, so growth and activity move as one story.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772400" y="4224528"/>
            <a:ext cx="3840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73568" y="442569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0163A"/>
          </a:solidFill>
          <a:ln/>
        </p:spPr>
      </p:sp>
      <p:sp>
        <p:nvSpPr>
          <p:cNvPr id="21" name="Text 18"/>
          <p:cNvSpPr/>
          <p:nvPr/>
        </p:nvSpPr>
        <p:spPr>
          <a:xfrm>
            <a:off x="7973568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595360" y="43708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map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595360" y="468172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bubbles sized by revenue, split by category, across the map of India.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772400" y="5559552"/>
            <a:ext cx="3840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973568" y="57607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0163A"/>
          </a:solidFill>
          <a:ln/>
        </p:spPr>
      </p:sp>
      <p:sp>
        <p:nvSpPr>
          <p:cNvPr id="26" name="Text 23"/>
          <p:cNvSpPr/>
          <p:nvPr/>
        </p:nvSpPr>
        <p:spPr>
          <a:xfrm>
            <a:off x="7973568" y="576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595360" y="570585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Age-group lens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595360" y="601675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5.48 items per basket on average; customers split fairly evenly across five age bands, 36–45 leading at 22.3%.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" y="6400800"/>
            <a:ext cx="384048" cy="182880"/>
          </a:xfrm>
          <a:prstGeom prst="roundRect">
            <a:avLst>
              <a:gd name="adj" fmla="val 15000"/>
            </a:avLst>
          </a:prstGeom>
          <a:solidFill>
            <a:srgbClr val="4C5FD5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1005840" y="6382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 Statistical Validation  •  Slide 07</a:t>
            </a:r>
            <a:endParaRPr lang="en-US" sz="950" dirty="0"/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005840"/>
            <a:ext cx="2743200" cy="2743200"/>
          </a:xfrm>
          <a:prstGeom prst="ellipse">
            <a:avLst/>
          </a:prstGeom>
          <a:solidFill>
            <a:srgbClr val="1B2452"/>
          </a:solidFill>
          <a:ln/>
        </p:spPr>
      </p:sp>
      <p:sp>
        <p:nvSpPr>
          <p:cNvPr id="3" name="Shape 1"/>
          <p:cNvSpPr/>
          <p:nvPr/>
        </p:nvSpPr>
        <p:spPr>
          <a:xfrm>
            <a:off x="11686032" y="-137160"/>
            <a:ext cx="1005840" cy="100584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68580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B2452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0" y="685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men and women really shop differently?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B7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recurring question from the merchandising team: should Electronics marketing be targeted by gender, or does everyone shop it equally?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379476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1B245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995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 (H₀)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361688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customer's gender and their likelihood of buying Electronics are independent — purchase rates are equal.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379476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1B2452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39959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HYPOTHESIS (H₁)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4361688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and Electronics purchase rate are associated — the proportions differ between men and women.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used: Two-proportion Z-test  |  Significance level: α = 0.05</a:t>
            </a:r>
            <a:endParaRPr lang="en-US" sz="1200" dirty="0"/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005840"/>
            <a:ext cx="2743200" cy="2743200"/>
          </a:xfrm>
          <a:prstGeom prst="ellipse">
            <a:avLst/>
          </a:prstGeom>
          <a:solidFill>
            <a:srgbClr val="EDF0FA"/>
          </a:solidFill>
          <a:ln/>
        </p:spPr>
      </p:sp>
      <p:sp>
        <p:nvSpPr>
          <p:cNvPr id="3" name="Shape 1"/>
          <p:cNvSpPr/>
          <p:nvPr/>
        </p:nvSpPr>
        <p:spPr>
          <a:xfrm>
            <a:off x="11686032" y="-137160"/>
            <a:ext cx="1005840" cy="1005840"/>
          </a:xfrm>
          <a:prstGeom prst="ellipse">
            <a:avLst/>
          </a:prstGeom>
          <a:solidFill>
            <a:srgbClr val="E3E7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A Statistically Significant Gap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buy Electronics at a meaningfully higher rate than women, at 95% confidence.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2821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3911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38.4%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9900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Electronics (196 of 511 orders)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60520" y="150876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72821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60520" y="203911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89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32.3%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160520" y="29900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Electronics (158 of 489 orders)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0" y="1508760"/>
            <a:ext cx="3867912" cy="2103120"/>
          </a:xfrm>
          <a:prstGeom prst="roundRect">
            <a:avLst>
              <a:gd name="adj" fmla="val 3478"/>
            </a:avLst>
          </a:prstGeom>
          <a:solidFill>
            <a:srgbClr val="10163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1728216"/>
            <a:ext cx="3867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2039112"/>
            <a:ext cx="3867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0.046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7772400" y="2990088"/>
            <a:ext cx="3867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2.00  →  below the 0.05 threshold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1109167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conclusion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4348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reject H₀: the gap is unlikely to be chance (p = 0.046 &lt; 0.05).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is real but modest — about 6 percentage points, not a dramatic split.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trial gender-weighted Electronics ad targeting, but validate with a live A/B test before reallocating major budget.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6400800"/>
            <a:ext cx="384048" cy="182880"/>
          </a:xfrm>
          <a:prstGeom prst="roundRect">
            <a:avLst>
              <a:gd name="adj" fmla="val 15000"/>
            </a:avLst>
          </a:prstGeom>
          <a:solidFill>
            <a:srgbClr val="4C5FD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05840" y="6382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 Statistical Validation  •  Slide 09</a:t>
            </a:r>
            <a:endParaRPr lang="en-US" sz="950" dirty="0"/>
          </a:p>
        </p:txBody>
      </p: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0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Didn't Move the Needle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other hypotheses were tested — none showed a statistically significant difference, which is itself useful for pricing strategy.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solidFill>
            <a:srgbClr val="1016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0" y="16002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66760" y="1600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195560" y="1600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0312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 differs by gender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210312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66760" y="21031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195560" y="210312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61488"/>
            <a:ext cx="11064240" cy="65836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61488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 differs, weekday vs weekend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276148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66760" y="276148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195560" y="276148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419856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19856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vs Grocery order value differs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341985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341985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195560" y="341985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78224"/>
            <a:ext cx="11064240" cy="65836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078224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and category preference are related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4078224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66760" y="407822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95560" y="407822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965192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5F7FC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965192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r>
              <a:rPr lang="en-US" sz="1200" dirty="0">
                <a:solidFill>
                  <a:srgbClr val="43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order values across these segments mean pricing and promotions can stay unified — no need to fragment strategy by gender, day, or category on value alone. The real differentiator is what people buy, not how much they spend per order.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6400800"/>
            <a:ext cx="384048" cy="182880"/>
          </a:xfrm>
          <a:prstGeom prst="roundRect">
            <a:avLst>
              <a:gd name="adj" fmla="val 15000"/>
            </a:avLst>
          </a:prstGeom>
          <a:solidFill>
            <a:srgbClr val="4C5FD5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64008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05840" y="6382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 Statistical Validation  •  Slide 10</a:t>
            </a:r>
            <a:endParaRPr lang="en-US" sz="950" dirty="0"/>
          </a:p>
        </p:txBody>
      </p:sp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5912" y="-1005840"/>
            <a:ext cx="2743200" cy="2743200"/>
          </a:xfrm>
          <a:prstGeom prst="ellipse">
            <a:avLst/>
          </a:prstGeom>
          <a:solidFill>
            <a:srgbClr val="1B2452"/>
          </a:solidFill>
          <a:ln/>
        </p:spPr>
      </p:sp>
      <p:sp>
        <p:nvSpPr>
          <p:cNvPr id="3" name="Shape 1"/>
          <p:cNvSpPr/>
          <p:nvPr/>
        </p:nvSpPr>
        <p:spPr>
          <a:xfrm>
            <a:off x="11686032" y="-137160"/>
            <a:ext cx="1005840" cy="1005840"/>
          </a:xfrm>
          <a:prstGeom prst="ellipse">
            <a:avLst/>
          </a:prstGeom>
          <a:solidFill>
            <a:srgbClr val="4C5FD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B245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9164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4C5FD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67335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Education drive 54% of revenue — prioritize stock and service levels here first.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B2452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169164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4C5FD5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167335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before you target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gender-weighted Electronics campaigns as a controlled A/B test to confirm the 6-point gap before scaling spend.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B2452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29768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4C5FD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427939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retention gap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93776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5.2% of customers are repeat buyers — launch a loyalty or win-back program to lift lifetime value.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0233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B2452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429768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4C5FD5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◱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4279392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the Aug–Sep dip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493776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softened in Aug–Sep on lower order count, not lower ticket size — review seasonal promotion timing.</a:t>
            </a:r>
            <a:endParaRPr lang="en-US" sz="1250" dirty="0"/>
          </a:p>
        </p:txBody>
      </p:sp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858000" cy="6858000"/>
          </a:xfrm>
          <a:prstGeom prst="ellipse">
            <a:avLst/>
          </a:prstGeom>
          <a:solidFill>
            <a:srgbClr val="1B245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18049"/>
            <a:ext cx="10360152" cy="23522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Any questions.</a:t>
            </a:r>
            <a:endParaRPr lang="en-US" sz="4400" dirty="0"/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1061</Words>
  <Application>Microsoft Office PowerPoint</Application>
  <PresentationFormat>Widescreen</PresentationFormat>
  <Paragraphs>172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Parth Varute</cp:lastModifiedBy>
  <cp:revision>3</cp:revision>
  <dcterms:created xsi:type="dcterms:W3CDTF">2026-07-30T06:22:49Z</dcterms:created>
  <dcterms:modified xsi:type="dcterms:W3CDTF">2026-08-01T05:13:52Z</dcterms:modified>
</cp:coreProperties>
</file>