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Revenue Share by Customer Segment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Premium Bulk
Buyers</c:v>
                  </c:pt>
                  <c:pt idx="1">
                    <c:v>Young High-Value
Shoppers</c:v>
                  </c:pt>
                  <c:pt idx="2">
                    <c:v>Senior Budget
Shoppers</c:v>
                  </c:pt>
                  <c:pt idx="3">
                    <c:v>Young Budget
Shoppers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27.1</c:v>
                </c:pt>
                <c:pt idx="2">
                  <c:v>15.8</c:v>
                </c:pt>
                <c:pt idx="3">
                  <c:v>11.9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CUSTOMER SEGMENTATION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Deep-Dive Analysis of 992 Orders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947 Customers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which customers drive revenue — and where to focus retention, marketing, and inventory effort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502920" cy="36576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00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Analytics &amp; Interactive Dashboarding — Capstone Project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the business — and why can’t we keep them?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covers ₹139.4M in revenue across 992 orders, but growth has been almost entirely acquisition-led. Leadership needs to know which customers actually drive revenue, and where retention, marketing, and inventory effort will have the greatest return.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2186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18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31272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actually generate the revenue?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08760" y="34747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order carries equal weight — spend is concentrated somewhere.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33088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433425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342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42428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low repeat-purchase rate a red flag or noise?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08760" y="45902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52 of 947 customers ordered twice — 5.5% repeat rate.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248656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54498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49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535838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category should marketing lean into?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570585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 varies sharply in revenue contribution.</a:t>
            </a:r>
            <a:endParaRPr lang="en-US" sz="1150" dirty="0"/>
          </a:p>
        </p:txBody>
      </p:sp>
      <p:pic>
        <p:nvPicPr>
          <p:cNvPr id="20" name="Image 0" descr="/home/claude/work/assets/monthly_sales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1417320"/>
            <a:ext cx="434340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60920" y="4160520"/>
            <a:ext cx="434340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34340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strong, choppy demand all year — with almost no repeat customers behind it.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analysis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sales.csv · ApexPlanet Data Analytics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2578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– Jan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4553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 analyzed → 992 unique Order_IDs · 947 unique customers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71246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37124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Order_Date, Customer, Age, Gender, City, Product, Category, Quantity, Unit_Price, Total_Sales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251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Order_IDs repeat across rows in the raw file; each row was kept as its own transaction, giving 992 unique order references.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4553712"/>
            <a:ext cx="4754880" cy="0"/>
          </a:xfrm>
          <a:prstGeom prst="line">
            <a:avLst/>
          </a:prstGeom>
          <a:noFill/>
          <a:ln w="12700">
            <a:solidFill>
              <a:srgbClr val="D6D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APPROACH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49377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whitespace, duplicates &amp; outlier checks (IQR method)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5230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523036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— distributions, correlations, category &amp; city breakdowns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5522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552297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 on spend, quantity &amp; age (k=4, chosen via elbow test)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5815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581558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one-way ANOVA to validate segment differences</a:t>
            </a:r>
            <a:endParaRPr lang="en-US" sz="1050" dirty="0"/>
          </a:p>
        </p:txBody>
      </p:sp>
      <p:pic>
        <p:nvPicPr>
          <p:cNvPr id="25" name="Image 0" descr="/home/claude/work/assets/pair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417320"/>
            <a:ext cx="5532120" cy="47091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39696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5623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₹139.40M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52928" y="1600200"/>
            <a:ext cx="2139696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185623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62656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57216" y="1600200"/>
            <a:ext cx="2139696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185623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₹140.52K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266944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61504" y="1600200"/>
            <a:ext cx="2139696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1504" y="185623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71232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Size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765792" y="1600200"/>
            <a:ext cx="2139696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65792" y="1856232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8755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(5.5%)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364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 unique order references from 1,000 analyzed rows (8 Order_IDs repeat in the source file).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category</a:t>
            </a:r>
            <a:endParaRPr lang="en-US" sz="1300" dirty="0"/>
          </a:p>
        </p:txBody>
      </p:sp>
      <p:pic>
        <p:nvPicPr>
          <p:cNvPr id="21" name="Image 0" descr="/home/claude/work/assets/revenue_share_categ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4023360"/>
            <a:ext cx="5120640" cy="23317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0350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category</a:t>
            </a:r>
            <a:endParaRPr lang="en-US" sz="1300" dirty="0"/>
          </a:p>
        </p:txBody>
      </p:sp>
      <p:pic>
        <p:nvPicPr>
          <p:cNvPr id="23" name="Image 1" descr="/home/claude/work/assets/orders_per_catego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4023360"/>
            <a:ext cx="5760720" cy="23317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heavily concentrated in one segment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417320"/>
            <a:ext cx="443484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543800" y="164592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Bulk Buyers are just 21% of orders — but 45% of revenue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43800" y="2606040"/>
            <a:ext cx="38862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4× their proportional share of orders.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₹2,99,346 — double the next-highest segment.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by age: high-value segments average ~48–49 yrs; low-value segments average ~30 yrs.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this segment would be disproportionately damaging to revenue.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is a universal demand driver</a:t>
            </a:r>
            <a:endParaRPr lang="en-US" sz="3000" dirty="0"/>
          </a:p>
        </p:txBody>
      </p:sp>
      <p:pic>
        <p:nvPicPr>
          <p:cNvPr id="4" name="Image 0" descr="/home/claude/work/assets/revenue_share_categ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55778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4173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6629400" y="1645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every single customer segment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29400" y="251460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 of total revenue — roughly double the next category (Education, 18.0%).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ranks #1 by revenue in all four customer segments, not just one buyer type — a broad, structural demand driver.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is jointly driven by price and quantity (r = 0.69 with Unit_Price, r = 0.65 with Quantity) — bundling higher-price, higher-quantity electronics is the clearest lever for lifting AOV.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 of 1,000 orders (35%) fall in Electronics — the single largest order volume of any category.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is acquisition-led, not loyalty-led</a:t>
            </a:r>
            <a:endParaRPr lang="en-US" sz="3000" dirty="0"/>
          </a:p>
        </p:txBody>
      </p:sp>
      <p:pic>
        <p:nvPicPr>
          <p:cNvPr id="4" name="Image 0" descr="/home/claude/work/assets/monthly_sales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676656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617720"/>
            <a:ext cx="6766560" cy="1280160"/>
          </a:xfrm>
          <a:prstGeom prst="roundRect">
            <a:avLst>
              <a:gd name="adj" fmla="val 7143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47548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stayed strong through most months (₹9–13M/mo) with a dip in Aug–Sep and a partial final month (Jan 2026 data cutoff) — demand isn’t the issue.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1417320"/>
            <a:ext cx="4297680" cy="448056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406640" y="17830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406640" y="2697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repeat-purchase rate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3246120"/>
            <a:ext cx="3383280" cy="0"/>
          </a:xfrm>
          <a:prstGeom prst="line">
            <a:avLst/>
          </a:prstGeom>
          <a:noFill/>
          <a:ln w="12700">
            <a:solidFill>
              <a:srgbClr val="3140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342900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52 of 947 customers placed a second order in 13 months.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thin a base for cohort/retention curves — which is why segmentation, not retention analysis, drove this deep-dive.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one-time order values are already being captured — even a modest lift in repeat rate would compound quickly.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HYPOTHESIS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four customer segments really spend differently?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segmentation splits customers into four groups by spend, quantity, and age. Before basing strategy on it, we need statistical evidence that these segments genuinely differ in order value — rather than being an artifact of the clustering algorithm.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 w="12700">
            <a:solidFill>
              <a:srgbClr val="D6D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—  NULL HYPOTHESIS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Total_Sales (order value) is equal across all four customer segments — Premium Bulk Buyers, Young High-Value Shoppers, Senior Budget Shoppers, and Young Budget Shoppers.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μ₁ = μ₂ = μ₃ = μ₄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256032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788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—  ALTERNATIVE HYPOTHESIS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3246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segment has a mean order value that differs significantly from the others — confirming the segmentation captures a real behavioral difference in spend.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29400" y="47091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least one μᵢ ≠ μⱼ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α = 0.05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ANOVA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continuous outcome (Total_Sales) across more than two independent groups (4 segments).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t-test only handles two groups at a time; running six pairwise t-tests would inflate false-positive risk.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tests all four group means simultaneously with a single F-statistic and p-value.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checked: independent observations, roughly continuous outcome, large sample per group (n ≥ 211 each) — satisfied by design of the dataset.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6916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1945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06840" y="2194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(order value, ₹)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7614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factor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06840" y="27614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(4 levels)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332841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sizes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06840" y="33284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249, 211, 240, 300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89534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06840" y="38953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(scipy.stats.f_oneway)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44622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(significance level)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06840" y="446227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5074920"/>
            <a:ext cx="4800600" cy="0"/>
          </a:xfrm>
          <a:prstGeom prst="line">
            <a:avLst/>
          </a:prstGeom>
          <a:noFill/>
          <a:ln w="12700">
            <a:solidFill>
              <a:srgbClr val="314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5257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means compared: ₹66,411 · ₹2,99,346 · ₹1,57,204 · ₹73,241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segments are statistically distinct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550.63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0128" y="137160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46304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01568" y="196596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71616" y="137160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146304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3, 996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163056" y="196596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33104" y="137160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833104" y="146304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H₀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924544" y="1965960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at α = 0.05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— Mean Order Value by Segment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6492240" cy="1691640"/>
        </p:xfrm>
        <a:graphic>
          <a:graphicData uri="http://schemas.openxmlformats.org/drawingml/2006/table">
            <a:tbl>
              <a:tblPr/>
              <a:tblGrid>
                <a:gridCol w="2514600"/>
                <a:gridCol w="640080"/>
                <a:gridCol w="1600200"/>
                <a:gridCol w="17373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AOV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Bulk Buyers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2,99,346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2,86,612 – 3,12,080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High-Value Shoppers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1,57,204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1,46,847 – 1,67,561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Budget Shoppers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67,096 – 79,386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Budget Shoppers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60,623 – 72,198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4709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four intervals overlap — each segment's true mean order value is estimated to a distinct range, reinforcing the ANOVA result visually.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5303520"/>
            <a:ext cx="649224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54406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— Tukey HSD pairwise test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77240" y="5715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segment pairs differ significantly (p &lt; 0.001). The exception: Senior Budget vs. Young Budget Shoppers do not differ significantly (p = 0.667) — age-based budget buyers behave alike regardless of age.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69480" y="2514600"/>
            <a:ext cx="4434840" cy="3794760"/>
          </a:xfrm>
          <a:prstGeom prst="roundRect">
            <a:avLst>
              <a:gd name="adj" fmla="val 2410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7543800" y="27432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543800" y="310896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is far below α = 0.05 — the difference in means is extremely unlikely to be due to chance.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statistically significant evidence that mean order value differs across the four customer segments.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shows at least one segment differs — it does not by itself prove segment membership causes the difference in spend.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95% CIs and Tukey post-hoc test confirm the difference is real and pinpoint exactly which segment pairs drive it.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 means for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there is statistically significant evidence that mean order value differs across the four segments — confirmed by non-overlapping 95% CIs and Tukey post-hoc tests — leadership can confidently use these segments to guide resourcing, marketing, and retention decisions rather than treating all customers alike.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is justified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Bulk Buyers can be prioritized for account management without risk that the group is statistically indistinguishable from the rest.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4231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337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messaging works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4023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spend behavior genuinely differs by segment, tailored offers (loyalty vs. bundle vs. entry-level) should outperform one-size-fits-all campaigns.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24231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3337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improves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0233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mix can now be used as a real explanatory variable in revenue forecasts, not just a descriptive label.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 |  Sales Performance &amp; Customer Segmentation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CALL TO 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should do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A8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7190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Premium Bulk Buyers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dedicated loyalty / account-management track for the segment driving 45% of revenue from 21% of orders.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A826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17190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digital-first on Electronics for Young High-Value Shoppers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103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combines strong spend with the longest customer lifetime — highest ROI for growth marketing.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A8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99923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to lift AOV in Budget segments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&amp; Young Budget Shoppers are 55% of orders but only 28% of revenue — use minimum-basket incentives.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288036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 w="12700">
            <a:solidFill>
              <a:srgbClr val="3140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063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9A826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99923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5.5% repeat-rate a top-line KPI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3832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modest retention lift compounds fast, given the high one-time order values already captured.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9A82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532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pilot a Premium Bulk Buyer loyalty program next quarter and re-measure repeat-purchase rate in 90 days.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2026-08-08T12:39:42Z</dcterms:created>
  <dcterms:modified xsi:type="dcterms:W3CDTF">2026-08-08T12:39:42Z</dcterms:modified>
</cp:coreProperties>
</file>